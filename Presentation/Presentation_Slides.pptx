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7" r:id="rId4"/>
    <p:sldId id="273" r:id="rId5"/>
    <p:sldId id="258" r:id="rId6"/>
    <p:sldId id="270" r:id="rId7"/>
    <p:sldId id="268" r:id="rId8"/>
    <p:sldId id="269" r:id="rId9"/>
    <p:sldId id="272" r:id="rId10"/>
    <p:sldId id="271" r:id="rId11"/>
    <p:sldId id="259" r:id="rId12"/>
    <p:sldId id="274" r:id="rId13"/>
    <p:sldId id="260" r:id="rId14"/>
    <p:sldId id="264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E5EC16-01D7-DCF5-BD5C-321DBF61254B}" v="966" dt="2026-02-25T03:30:59.111"/>
    <p1510:client id="{0354F8D1-A52C-4153-B47B-DE97855639E8}" v="4489" dt="2026-02-25T11:08:09.035"/>
    <p1510:client id="{3C1B714A-437E-1447-BECC-4EB42FBDF255}" v="3092" dt="2026-02-25T10:23:33.999"/>
    <p1510:client id="{4587763E-B226-A4C8-C054-21C04222F820}" v="101" dt="2026-02-25T09:58:58.585"/>
    <p1510:client id="{CCB120BA-7FEB-7A51-8664-5E6D731D0C36}" v="27" dt="2026-02-25T10:26:09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A330F-81F5-4945-B77F-784090C3C503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80C0E-C50A-024E-919E-04F466C84B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476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222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4158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27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901C5-A3B4-BB62-6A8F-018895306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20F2F8-EA28-6EFA-26B0-95FC3D7EBA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BE2FE-86DF-D25D-CAC6-834E7E986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38AE9-F977-7B21-8A5D-C7CA5BAC0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213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Shows the audience all the pseudocode in one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844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8803-7945-4C92-DCA8-2273A816D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6C4DAF-5E8D-CECE-12A0-118CE1A2D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E1CAA-2FFC-4668-4C3B-F3BBB9A75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Dictionary used because:</a:t>
            </a:r>
          </a:p>
          <a:p>
            <a:r>
              <a:rPr lang="en-GB"/>
              <a:t> - Nice, easy-to-use container</a:t>
            </a:r>
          </a:p>
          <a:p>
            <a:endParaRPr lang="en-GB"/>
          </a:p>
          <a:p>
            <a:r>
              <a:rPr lang="en-GB"/>
              <a:t> - Keeps data neat and organised</a:t>
            </a:r>
          </a:p>
          <a:p>
            <a:endParaRPr lang="en-GB"/>
          </a:p>
          <a:p>
            <a:r>
              <a:rPr lang="en-GB"/>
              <a:t> - Easy lookups</a:t>
            </a:r>
          </a:p>
          <a:p>
            <a:endParaRPr lang="en-GB"/>
          </a:p>
          <a:p>
            <a:endParaRPr lang="en-GB"/>
          </a:p>
          <a:p>
            <a:r>
              <a:rPr lang="en-GB"/>
              <a:t>Subsets from indices:</a:t>
            </a:r>
          </a:p>
          <a:p>
            <a:r>
              <a:rPr lang="en-GB"/>
              <a:t> - If used activity data, it would be duplicated many times</a:t>
            </a:r>
          </a:p>
          <a:p>
            <a:endParaRPr lang="en-GB"/>
          </a:p>
          <a:p>
            <a:r>
              <a:rPr lang="en-GB"/>
              <a:t> - By using indices, they reduce the amount of duplicated data</a:t>
            </a: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9243-E465-8773-EB74-E4ABBA1A6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759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ADE1B-A3A8-CC01-AB92-2E095B17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255F7-F2B3-388F-2951-EB925331BE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80F43A-5B4B-7437-BC9D-C58BCA674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Analyse subsets of different sizes, why?</a:t>
            </a:r>
          </a:p>
          <a:p>
            <a:endParaRPr lang="en-GB"/>
          </a:p>
          <a:p>
            <a:r>
              <a:rPr lang="en-GB"/>
              <a:t> - Large inputs = computer </a:t>
            </a:r>
            <a:r>
              <a:rPr lang="en-GB" b="1"/>
              <a:t>doesn’t have enough memory</a:t>
            </a:r>
            <a:r>
              <a:rPr lang="en-GB"/>
              <a:t> to store all subsets = </a:t>
            </a:r>
            <a:r>
              <a:rPr lang="en-GB" b="1"/>
              <a:t>memory error</a:t>
            </a:r>
          </a:p>
          <a:p>
            <a:endParaRPr lang="en-GB" b="0"/>
          </a:p>
          <a:p>
            <a:r>
              <a:rPr lang="en-GB" b="0"/>
              <a:t> - So, must systematically analyse each subset size, one at a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A753D-846D-14A7-74C2-D79F946F5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305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A1EF-D943-81BC-A924-287B26069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FFD13-9895-DE76-0C33-C10ED1C00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541DE-7C31-C761-858D-7A24D75EA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 - Loop through each subset to analyse each.</a:t>
            </a:r>
          </a:p>
          <a:p>
            <a:endParaRPr lang="en-GB"/>
          </a:p>
          <a:p>
            <a:r>
              <a:rPr lang="en-GB"/>
              <a:t> - Tracker variables used to hold the properties of the current subset.</a:t>
            </a:r>
          </a:p>
          <a:p>
            <a:endParaRPr lang="en-GB"/>
          </a:p>
          <a:p>
            <a:r>
              <a:rPr lang="en-GB"/>
              <a:t> - For each activity in the subset, update the tracker variables with the values of that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F970A-0226-1A8D-C7D9-E08123802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285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ABA30-B512-7FA9-FEA1-2179B5A80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EB692-70BD-58A2-69B3-37FD8CF4C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454FBA-6499-3903-80F7-5192327B6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 - Only update the optimal solution if this subset improves the enjoyment value and stays within the available budget.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94174-CDF8-F757-EABC-546530C6F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168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13314-E07F-D722-2A0B-DD58A5041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5B9F6-316B-F2E2-571C-300DE6805E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54663-0962-9D83-509C-D1C8BCD60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Shows the audience all the pseudocode in one go, again.</a:t>
            </a:r>
          </a:p>
          <a:p>
            <a:endParaRPr lang="en-GB"/>
          </a:p>
          <a:p>
            <a:r>
              <a:rPr lang="en-GB"/>
              <a:t>Talk about time complexity</a:t>
            </a:r>
          </a:p>
          <a:p>
            <a:r>
              <a:rPr lang="en-GB"/>
              <a:t> - Outer loop executes n-1 times</a:t>
            </a:r>
          </a:p>
          <a:p>
            <a:endParaRPr lang="en-GB"/>
          </a:p>
          <a:p>
            <a:r>
              <a:rPr lang="en-GB"/>
              <a:t> - First nested loop executes n choose “size of subset” times</a:t>
            </a:r>
          </a:p>
          <a:p>
            <a:endParaRPr lang="en-GB"/>
          </a:p>
          <a:p>
            <a:r>
              <a:rPr lang="en-GB"/>
              <a:t> - Double nested loop executes “size of subset”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5B504-3726-9BA2-391A-A8B1ABB200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020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Explain the importance of the images, knapsack problem etc</a:t>
            </a:r>
          </a:p>
          <a:p>
            <a:endParaRPr lang="en-GB"/>
          </a:p>
          <a:p>
            <a:r>
              <a:rPr lang="en-GB" sz="2000" noProof="0"/>
              <a:t>By keeping a store of previous results, when a new item is added the previous items are not recalculated.</a:t>
            </a:r>
          </a:p>
          <a:p>
            <a:r>
              <a:rPr lang="en-GB" sz="2000" noProof="0"/>
              <a:t>Overall reducing the time and space in computing such a problem:</a:t>
            </a:r>
          </a:p>
          <a:p>
            <a:pPr lvl="1"/>
            <a:r>
              <a:rPr lang="en-GB" sz="1600" noProof="0"/>
              <a:t>Leading to a space and time complexity of O(nB) –  n = number of activities, B = budget</a:t>
            </a:r>
          </a:p>
          <a:p>
            <a:r>
              <a:rPr lang="en-GB" sz="2000" noProof="0"/>
              <a:t>However, using such an implementation can be complex to create, it can use a lot of memory storing each value,</a:t>
            </a:r>
          </a:p>
          <a:p>
            <a:r>
              <a:rPr lang="en-GB" sz="2000"/>
              <a:t>The size of the table is ‘nB’ therefore in most cases it will grow </a:t>
            </a:r>
            <a:r>
              <a:rPr lang="en-GB" sz="2000" noProof="0" err="1"/>
              <a:t>polynomially</a:t>
            </a:r>
            <a:r>
              <a:rPr lang="en-GB" sz="2000" noProof="0"/>
              <a:t> this impacts its use with large real-world datasets, as it might not be feasible.</a:t>
            </a:r>
          </a:p>
          <a:p>
            <a:endParaRPr lang="en-GB" sz="2000" noProof="0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80C0E-C50A-024E-919E-04F466C84B6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171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193B-F14A-5235-83EA-5CB16688D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0D470-0680-3E35-3632-512219F11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97884-B561-4EC5-4EC5-D8940A7B5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C769-A6CF-41F6-B8D4-A4652A1C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E132-246E-C28E-2B5E-866172C0B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955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7E0C-C3DE-E565-AB18-17C26349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648E1-D3F2-693F-4A51-CC3189DBC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673B2-DF34-C484-00D8-E1D31650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58623-4ABF-5258-163D-B5257534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1AB4B-C91C-475F-6899-36053354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654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3A57E-7E37-5A99-26BB-AE8FACE54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E7024-12B2-127B-2998-ECCE95569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35972-249F-B172-A35D-F03DC292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B92E2-D9A6-62CE-F1FA-D793A3B3D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FC4F-E3A7-84C2-FC28-098C3253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33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C9BD-2CBE-8DEA-A8C7-FB6CD4C7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D158-97CA-06F8-CB8E-B10A120E4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243C3-237D-0710-B6F4-2710BAC9A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A617A-8B5B-BFE6-D1C8-0C6B93340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14C3A9-F858-0B40-1C3F-D8E38CD7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0734F-3A84-180E-9D26-649F4B18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94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2E0C-C881-8C1D-7217-8C60A9B5D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2CE37-52F0-045C-4A15-E01A083C9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CB968-9BF6-12BE-CB73-BDCEA6ED3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B9C8E-98AD-A4C4-21CA-F2180FB09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ECEFC-0A6D-A4D2-A6B6-6E8CB6BB4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4EA62A-BE06-960E-07E0-4F8E2657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4D17B-4954-DC3A-7278-87E3DFC8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A576C-AD96-B0B4-516A-9940350D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365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63E2-95EA-1D34-3E6E-C3738BE47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892FC-BB2F-B486-9A04-A24A8656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4854E-B995-D91A-24A3-28B62F252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6DA39-19F9-88ED-D564-C77A1667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42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F01EEF-85D7-8D9E-894F-EE3407D3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940243-C7D8-E33A-3296-A650EE1AF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BFCC8-DD99-72B7-C1D2-36F9911C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70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BAE8B-36F7-D219-AF5B-AD6B88358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B0BF-F3ED-D0FA-27AE-830A83E47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262FA-A8B3-AD87-C9BA-83E62B362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F46BC-2D21-7116-CE07-ECD115BD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1D5B1-73F9-02C3-3EBE-EB53581F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61CE1-602E-BC17-5E6F-4E5E06694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25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40480-E655-A285-FEB6-56BA0EE8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B37D71-5F62-BC07-E2E7-AFCA7CD82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50E0A-48EA-2EAD-EF6F-CA309C995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CE1B4-3BB6-E55D-CF91-D7DFCE73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B69F6-6AAD-A70F-6FA6-1FBEA189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FA2D3-0EED-C412-DE71-203DEBDB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943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D9D-2FD3-6AF9-6F50-7018F1B3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540D8B-CF7C-F46C-D7A5-B072682D4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A02D7-5C11-CF10-8C56-24C5F3F6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CAF1-CC05-7044-E778-A2C27DF5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D8B59-B55B-719A-9D85-44061E6E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48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D7B95-55DD-9BB6-57F3-14E5AA412F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B7464A-861B-97E7-80C4-85A5EA28F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B90AA-042A-A072-BF57-6403BE7A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D89E-6B34-DD4C-D4ED-3A3C9EDDD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7CD41-BCA2-8854-EC5F-E787D1F3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589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84080-B8EE-274A-E12E-BA15D49EC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E4323-A85D-DD81-D511-95CA07D9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8D5BE-EF24-5F65-36E4-0ADDA7B6D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4C13D-A0D0-474F-BABC-F685F13B43FA}" type="datetimeFigureOut">
              <a:rPr lang="en-GB" smtClean="0"/>
              <a:t>25/02/2026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B05C-4D28-BFA4-AA44-B7E9B79033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19237-30D7-B967-29D9-3EFFB36557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17F48-20C8-914E-866E-FB81E0177A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01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antastic-fiesta-wrq7jrj7jv9qfgxp9.github.dev/" TargetMode="External"/><Relationship Id="rId2" Type="http://schemas.openxmlformats.org/officeDocument/2006/relationships/hyperlink" Target="file:///\\Applications\PyCharm.app\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oryofcoding.com/index.php/2015/03/02/dynamic-programming-introduction-and-fibonacci-numbers/" TargetMode="External"/><Relationship Id="rId2" Type="http://schemas.openxmlformats.org/officeDocument/2006/relationships/hyperlink" Target="https://www.geeksforgeeks.org/competitive-programming/dp-on-grid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8A4C-D9DD-3ABE-20AA-F982813DE1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noProof="0"/>
              <a:t>Group 35</a:t>
            </a:r>
            <a:br>
              <a:rPr lang="en-GB" noProof="0"/>
            </a:br>
            <a:r>
              <a:rPr lang="en-GB" noProof="0"/>
              <a:t>Student Society Event Planner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FB67A-9BCC-0E29-AB75-ECF04EABE5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/>
              <a:t>ECM1414 – Data Structures and Algorithms </a:t>
            </a:r>
          </a:p>
          <a:p>
            <a:r>
              <a:rPr lang="en-GB" noProof="0"/>
              <a:t>Max Thrift-Brothers</a:t>
            </a:r>
          </a:p>
          <a:p>
            <a:r>
              <a:rPr lang="en-GB" noProof="0"/>
              <a:t>Cameron Russel</a:t>
            </a:r>
          </a:p>
          <a:p>
            <a:r>
              <a:rPr lang="en-GB" noProof="0"/>
              <a:t>Utku Ozturk </a:t>
            </a:r>
          </a:p>
        </p:txBody>
      </p:sp>
    </p:spTree>
    <p:extLst>
      <p:ext uri="{BB962C8B-B14F-4D97-AF65-F5344CB8AC3E}">
        <p14:creationId xmlns:p14="http://schemas.microsoft.com/office/powerpoint/2010/main" val="79915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8C62-A057-8DA8-EB2F-49AB20FC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The Problem: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20B7D-DC4D-25AE-B127-71F2A08B2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A university society has a restricted amount of time and money to host an event weekend.</a:t>
            </a:r>
          </a:p>
          <a:p>
            <a:r>
              <a:rPr lang="en-GB" noProof="0" dirty="0"/>
              <a:t>It would like to host the most memorable experience it can offer to its members whilst sticking to its time and/or budget. </a:t>
            </a:r>
          </a:p>
          <a:p>
            <a:r>
              <a:rPr lang="en-GB" dirty="0"/>
              <a:t>This project analyses a list of potential activities using two algorithms.</a:t>
            </a:r>
          </a:p>
          <a:p>
            <a:r>
              <a:rPr lang="en-GB" noProof="0" dirty="0"/>
              <a:t>It aims to find the subset of activities that maximises the enjoyment of its members whilst adhering to their available budget.</a:t>
            </a:r>
          </a:p>
        </p:txBody>
      </p:sp>
    </p:spTree>
    <p:extLst>
      <p:ext uri="{BB962C8B-B14F-4D97-AF65-F5344CB8AC3E}">
        <p14:creationId xmlns:p14="http://schemas.microsoft.com/office/powerpoint/2010/main" val="33506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01453CB-77B8-1BFB-E224-382A8ADE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7"/>
            <a:ext cx="10515600" cy="1325563"/>
          </a:xfrm>
        </p:spPr>
        <p:txBody>
          <a:bodyPr/>
          <a:lstStyle/>
          <a:p>
            <a:pPr algn="ctr"/>
            <a:r>
              <a:rPr lang="en-GB" noProof="0"/>
              <a:t>Event Planner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2D0DB25-95E1-FD71-28D8-4F6F07014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54" y="1251713"/>
            <a:ext cx="9565511" cy="151554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sz="2000" noProof="0" dirty="0"/>
              <a:t>Purpose: </a:t>
            </a:r>
          </a:p>
          <a:p>
            <a:pPr marL="0" indent="0">
              <a:buNone/>
            </a:pPr>
            <a:r>
              <a:rPr lang="en-GB" sz="2000" dirty="0"/>
              <a:t> - Communicate with and link all three helper modules.</a:t>
            </a:r>
          </a:p>
          <a:p>
            <a:pPr marL="0" indent="0">
              <a:buNone/>
            </a:pPr>
            <a:r>
              <a:rPr lang="en-GB" sz="2000" noProof="0" dirty="0"/>
              <a:t> - Receives the optimal solution and outputs in a human-readable format.</a:t>
            </a:r>
          </a:p>
          <a:p>
            <a:pPr marL="0" indent="0">
              <a:buNone/>
            </a:pPr>
            <a:r>
              <a:rPr lang="en-GB" sz="2000" dirty="0"/>
              <a:t> - Also, it times the execution of each algorithm for analysis.</a:t>
            </a:r>
            <a:endParaRPr lang="en-GB" sz="2000" noProof="0" dirty="0"/>
          </a:p>
          <a:p>
            <a:pPr>
              <a:buFont typeface="Calibri" panose="020B0604020202020204" pitchFamily="34" charset="0"/>
              <a:buChar char="-"/>
            </a:pPr>
            <a:endParaRPr lang="en-GB" sz="1800" noProof="0" dirty="0"/>
          </a:p>
        </p:txBody>
      </p: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502063F6-5022-3D13-B387-8CA256ED36DE}"/>
              </a:ext>
            </a:extLst>
          </p:cNvPr>
          <p:cNvCxnSpPr/>
          <p:nvPr/>
        </p:nvCxnSpPr>
        <p:spPr>
          <a:xfrm flipV="1">
            <a:off x="1863" y="1018135"/>
            <a:ext cx="12191235" cy="8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Metin kutusu 8">
            <a:extLst>
              <a:ext uri="{FF2B5EF4-FFF2-40B4-BE49-F238E27FC236}">
                <a16:creationId xmlns:a16="http://schemas.microsoft.com/office/drawing/2014/main" id="{51BE31DB-AA44-F594-BE32-98AFBB605CD1}"/>
              </a:ext>
            </a:extLst>
          </p:cNvPr>
          <p:cNvSpPr txBox="1"/>
          <p:nvPr/>
        </p:nvSpPr>
        <p:spPr>
          <a:xfrm>
            <a:off x="445958" y="2927596"/>
            <a:ext cx="8658393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cs typeface="Arial"/>
              </a:rPr>
              <a:t>The three helper modules:</a:t>
            </a:r>
            <a:endParaRPr lang="en-GB" sz="2000" dirty="0"/>
          </a:p>
          <a:p>
            <a:pPr marL="342900" indent="-342900">
              <a:buFont typeface="Calibri"/>
              <a:buChar char="-"/>
            </a:pPr>
            <a:r>
              <a:rPr lang="en-GB" sz="2000" dirty="0" err="1">
                <a:cs typeface="Arial"/>
              </a:rPr>
              <a:t>file_input</a:t>
            </a:r>
            <a:r>
              <a:rPr lang="en-GB" sz="2000" dirty="0">
                <a:cs typeface="Arial"/>
              </a:rPr>
              <a:t> – parses the input file, ready for the two algorithms to analyse</a:t>
            </a:r>
          </a:p>
          <a:p>
            <a:pPr marL="342900" indent="-342900">
              <a:buFont typeface="Calibri"/>
              <a:buChar char="-"/>
            </a:pPr>
            <a:r>
              <a:rPr lang="en-GB" sz="2000" dirty="0" err="1">
                <a:cs typeface="Arial"/>
              </a:rPr>
              <a:t>brute_force</a:t>
            </a:r>
            <a:endParaRPr lang="en-GB" sz="2000" dirty="0">
              <a:cs typeface="Arial"/>
            </a:endParaRPr>
          </a:p>
          <a:p>
            <a:pPr marL="342900" indent="-342900">
              <a:buFont typeface="Calibri"/>
              <a:buChar char="-"/>
            </a:pPr>
            <a:r>
              <a:rPr lang="en-GB" sz="2000" dirty="0" err="1">
                <a:cs typeface="Arial"/>
              </a:rPr>
              <a:t>dynamic_method</a:t>
            </a:r>
            <a:r>
              <a:rPr lang="en-GB" sz="2000" dirty="0">
                <a:cs typeface="Arial"/>
              </a:rPr>
              <a:t> </a:t>
            </a:r>
            <a:endParaRPr lang="en-GB" sz="2000" dirty="0"/>
          </a:p>
          <a:p>
            <a:pPr>
              <a:buFont typeface="Calibri"/>
            </a:pPr>
            <a:endParaRPr lang="en-GB" sz="2000" noProof="0" dirty="0"/>
          </a:p>
          <a:p>
            <a:pPr marL="342900" indent="-342900">
              <a:buFont typeface="Calibri"/>
              <a:buChar char="-"/>
            </a:pPr>
            <a:endParaRPr lang="en-GB" sz="2000" noProof="0" dirty="0"/>
          </a:p>
          <a:p>
            <a:pPr marL="285750" indent="-285750">
              <a:buFont typeface="Calibri"/>
              <a:buChar char="-"/>
            </a:pPr>
            <a:endParaRPr lang="en-GB" sz="2000" noProof="0" dirty="0"/>
          </a:p>
        </p:txBody>
      </p:sp>
    </p:spTree>
    <p:extLst>
      <p:ext uri="{BB962C8B-B14F-4D97-AF65-F5344CB8AC3E}">
        <p14:creationId xmlns:p14="http://schemas.microsoft.com/office/powerpoint/2010/main" val="3820051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ADD8-3AC8-3AB4-30DD-578704D2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71A8D3-279B-C293-039E-2A5C3A85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7"/>
            <a:ext cx="10515600" cy="1325563"/>
          </a:xfrm>
        </p:spPr>
        <p:txBody>
          <a:bodyPr/>
          <a:lstStyle/>
          <a:p>
            <a:pPr algn="ctr"/>
            <a:r>
              <a:rPr lang="en-GB" noProof="0"/>
              <a:t>Event Planner </a:t>
            </a:r>
          </a:p>
        </p:txBody>
      </p: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4CB35E5D-2584-36CA-10CB-92F2FA7D1F5A}"/>
              </a:ext>
            </a:extLst>
          </p:cNvPr>
          <p:cNvCxnSpPr/>
          <p:nvPr/>
        </p:nvCxnSpPr>
        <p:spPr>
          <a:xfrm flipV="1">
            <a:off x="1863" y="1018135"/>
            <a:ext cx="12191235" cy="8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İçerik Yer Tutucusu 4">
            <a:extLst>
              <a:ext uri="{FF2B5EF4-FFF2-40B4-BE49-F238E27FC236}">
                <a16:creationId xmlns:a16="http://schemas.microsoft.com/office/drawing/2014/main" id="{FDE2CAEE-B7B3-9CB6-007E-EC7A64EEE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31" y="1325563"/>
            <a:ext cx="6419851" cy="43572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tr-TR" sz="2000"/>
              <a:t>How it links them: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tr-TR" sz="2000"/>
              <a:t>Reads file_name from the input in the terminal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tr-TR" sz="2000"/>
              <a:t>Calls activites = file_input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tr-TR" sz="2000"/>
              <a:t>Then it passes the same activities to both algorithms: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tr-TR" sz="2000"/>
              <a:t>find_optimal_solution(activites)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tr-TR" sz="2000"/>
              <a:t>Dynamic_subsets(activites)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tr-TR" sz="2000"/>
              <a:t>Times each call using time() and prints both results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tr-TR" sz="2000"/>
          </a:p>
        </p:txBody>
      </p:sp>
      <p:pic>
        <p:nvPicPr>
          <p:cNvPr id="3" name="Resim 2" descr="metin, ekran görüntüsü, yazı tipi, doküman, belge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AE2BD5B6-8E6C-6317-D9E6-F80865626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164" y="1326024"/>
            <a:ext cx="5502798" cy="494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356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6247-B3E8-5AF0-A5D6-610B76A5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Brute Force Approach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ED5BDE-3A46-7570-0290-0FB9E77B034A}"/>
              </a:ext>
            </a:extLst>
          </p:cNvPr>
          <p:cNvSpPr/>
          <p:nvPr/>
        </p:nvSpPr>
        <p:spPr>
          <a:xfrm>
            <a:off x="807984" y="2355217"/>
            <a:ext cx="4250120" cy="3219618"/>
          </a:xfrm>
          <a:prstGeom prst="roundRect">
            <a:avLst>
              <a:gd name="adj" fmla="val 490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INTEGER available_budget &lt;- activity_list[0][2]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INTEGER number_of_activities &lt;- activity_list[0][0]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optimal_subset &lt;- DICTIONARY {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“subset_indices”: ARRAY[INTEGER],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“time_used”: 0,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“budget_used”: 0,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“total_enjoyment_value”: 0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ARRAY[INTEGER] activity_indices OF SIZE number_of_activities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i FROM 1 TO number_of_activities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activity_indices[i-1] &lt;- I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4B2010-053F-1DBA-D916-3D369AED8E44}"/>
              </a:ext>
            </a:extLst>
          </p:cNvPr>
          <p:cNvSpPr txBox="1">
            <a:spLocks/>
          </p:cNvSpPr>
          <p:nvPr/>
        </p:nvSpPr>
        <p:spPr>
          <a:xfrm>
            <a:off x="1235623" y="5927829"/>
            <a:ext cx="3394841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Algorithm Logic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416A296-0154-91A5-1F3E-742504077D73}"/>
              </a:ext>
            </a:extLst>
          </p:cNvPr>
          <p:cNvSpPr/>
          <p:nvPr/>
        </p:nvSpPr>
        <p:spPr>
          <a:xfrm>
            <a:off x="5368159" y="1529255"/>
            <a:ext cx="5985641" cy="4871542"/>
          </a:xfrm>
          <a:prstGeom prst="roundRect">
            <a:avLst>
              <a:gd name="adj" fmla="val 357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size_of_subset FROM 1 TO number_of_activities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ARRAY[ARRAY[INTEGER]] subsets &lt;- generate_subset(activity_indices, size_of_subset)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FOR ARRAY[INTEGER] subset IN subsets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INTEGER sum_of_budget &lt;- 0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INTEGER sum_of_time &lt;- 0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INTEGER sum_of_enjoyment_values &lt;- 0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FOR INTEGER activity_index IN subset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sum_of_time += activity_list[activity_index][1]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sum_of_budget += activity_list[activity_index][2]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sum_of_enjoyment_values += activity_list[activity_index][3]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END FOR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IF (sum_of_enjoyment_values &gt; optimal_subset['total_enjoyment_value'] AND sum_of_budget &lt;= available_budget) THEN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optimal_subset[“subset_indices”] &lt;- subset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optimal_subset[“time_used”] &lt;- sum_of_time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optimal_subset[“budget_used”] &lt;- sum_of_budget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optimal_subset[“total_enjoyment_value”] &lt;- sum_of_enjoyment_values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END IF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END FOR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RETURN optimal_subset</a:t>
            </a:r>
          </a:p>
        </p:txBody>
      </p:sp>
    </p:spTree>
    <p:extLst>
      <p:ext uri="{BB962C8B-B14F-4D97-AF65-F5344CB8AC3E}">
        <p14:creationId xmlns:p14="http://schemas.microsoft.com/office/powerpoint/2010/main" val="292363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A8154-5A7F-7922-576B-2287663A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20862-A842-A41A-4D24-7C0AC5336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Brute Force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ED0F8-A1D1-B957-F2DC-4D1488D92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787" y="4474260"/>
            <a:ext cx="3326524" cy="1008993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GB" sz="1800" noProof="0">
                <a:solidFill>
                  <a:schemeClr val="bg2">
                    <a:lumMod val="25000"/>
                  </a:schemeClr>
                </a:solidFill>
              </a:rPr>
              <a:t>Use a list of indices to generate subsets from.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70551B-1CB7-B2B3-84A0-B3FD36AD508D}"/>
              </a:ext>
            </a:extLst>
          </p:cNvPr>
          <p:cNvSpPr/>
          <p:nvPr/>
        </p:nvSpPr>
        <p:spPr>
          <a:xfrm>
            <a:off x="4816366" y="4319752"/>
            <a:ext cx="6235262" cy="1318010"/>
          </a:xfrm>
          <a:prstGeom prst="roundRect">
            <a:avLst>
              <a:gd name="adj" fmla="val 7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ARRAY[INTEGER] activity_indices OF SIZE number_of_activities</a:t>
            </a:r>
          </a:p>
          <a:p>
            <a:endParaRPr lang="en-GB" sz="14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i FROM 1 TO number_of_activities DO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activity_indices[i-1] &lt;- i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D7C818-DCAC-4B8F-877A-86C35F15B433}"/>
              </a:ext>
            </a:extLst>
          </p:cNvPr>
          <p:cNvSpPr/>
          <p:nvPr/>
        </p:nvSpPr>
        <p:spPr>
          <a:xfrm>
            <a:off x="1140371" y="1757855"/>
            <a:ext cx="5323491" cy="2144110"/>
          </a:xfrm>
          <a:prstGeom prst="roundRect">
            <a:avLst>
              <a:gd name="adj" fmla="val 7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INTEGER available_budget &lt;- activity_list[0][2]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INTEGER number_of_activities &lt;- activity_list[0][0]</a:t>
            </a:r>
          </a:p>
          <a:p>
            <a:endParaRPr lang="en-GB" sz="14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optimal_subset &lt;- DICTIONARY {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“subset_indices”: ARRAY[INTEGER],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“time_used”: 0,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“budget_used”: 0,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“total_enjoyment_value”: 0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81558F-4429-41E8-E5A8-22A46E0996D5}"/>
              </a:ext>
            </a:extLst>
          </p:cNvPr>
          <p:cNvSpPr txBox="1">
            <a:spLocks/>
          </p:cNvSpPr>
          <p:nvPr/>
        </p:nvSpPr>
        <p:spPr>
          <a:xfrm>
            <a:off x="6773917" y="1757855"/>
            <a:ext cx="3394841" cy="1883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Storing these values makes the code easier to read further down.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Initialise a dictionary to contain the optimal solution.</a:t>
            </a:r>
          </a:p>
        </p:txBody>
      </p:sp>
    </p:spTree>
    <p:extLst>
      <p:ext uri="{BB962C8B-B14F-4D97-AF65-F5344CB8AC3E}">
        <p14:creationId xmlns:p14="http://schemas.microsoft.com/office/powerpoint/2010/main" val="3545401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28FE-79AC-A24F-8A1F-8218A451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9D3C-E79D-37CA-BCF6-4C9C0581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Brute Force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CCE8-E0E8-F390-8A78-99914B93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164" y="4359166"/>
            <a:ext cx="3339663" cy="8292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noProof="0">
                <a:solidFill>
                  <a:schemeClr val="bg2">
                    <a:lumMod val="25000"/>
                  </a:schemeClr>
                </a:solidFill>
              </a:rPr>
              <a:t>Call the function to generate all subsets of a given size.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2E1827-9723-A803-85E2-AFBBBDF8ADBE}"/>
              </a:ext>
            </a:extLst>
          </p:cNvPr>
          <p:cNvSpPr/>
          <p:nvPr/>
        </p:nvSpPr>
        <p:spPr>
          <a:xfrm>
            <a:off x="1232337" y="4272455"/>
            <a:ext cx="5102772" cy="1002700"/>
          </a:xfrm>
          <a:prstGeom prst="roundRect">
            <a:avLst>
              <a:gd name="adj" fmla="val 9709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 (a)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ARRAY[ARRAY[INTEGER]] subsets &lt;- generate_subset(activity_indices, size_of_subset)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39E5AF-FC52-8DC6-556A-1A618D2045F2}"/>
              </a:ext>
            </a:extLst>
          </p:cNvPr>
          <p:cNvSpPr/>
          <p:nvPr/>
        </p:nvSpPr>
        <p:spPr>
          <a:xfrm>
            <a:off x="4853152" y="2404241"/>
            <a:ext cx="6190594" cy="851338"/>
          </a:xfrm>
          <a:prstGeom prst="roundRect">
            <a:avLst>
              <a:gd name="adj" fmla="val 1290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size_of_subset FROM 1 TO number_of_activities DO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... (a)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6F7BE3D-A3CE-60D3-C379-EAB15966EF4B}"/>
              </a:ext>
            </a:extLst>
          </p:cNvPr>
          <p:cNvSpPr txBox="1">
            <a:spLocks/>
          </p:cNvSpPr>
          <p:nvPr/>
        </p:nvSpPr>
        <p:spPr>
          <a:xfrm>
            <a:off x="922283" y="2404241"/>
            <a:ext cx="3620814" cy="8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Enables the algorithm to analyse subsets of different sizes.</a:t>
            </a:r>
          </a:p>
        </p:txBody>
      </p:sp>
    </p:spTree>
    <p:extLst>
      <p:ext uri="{BB962C8B-B14F-4D97-AF65-F5344CB8AC3E}">
        <p14:creationId xmlns:p14="http://schemas.microsoft.com/office/powerpoint/2010/main" val="173008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AD70-EE56-0194-EDF9-9AB6B28E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2E0EA-E81F-5EA7-8BCC-2E3CDFFBB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Brute Force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11437-6A06-2FD7-706B-F253CE529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49" y="4682359"/>
            <a:ext cx="3547242" cy="829278"/>
          </a:xfrm>
        </p:spPr>
        <p:txBody>
          <a:bodyPr anchor="ctr">
            <a:normAutofit/>
          </a:bodyPr>
          <a:lstStyle/>
          <a:p>
            <a:pPr marL="0" indent="0" algn="r">
              <a:buNone/>
            </a:pPr>
            <a:r>
              <a:rPr lang="en-GB" sz="1800" noProof="0">
                <a:solidFill>
                  <a:schemeClr val="bg2">
                    <a:lumMod val="25000"/>
                  </a:schemeClr>
                </a:solidFill>
              </a:rPr>
              <a:t>Update the tracker variables with the values in each activity.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778B9F-F620-1ABC-559C-52AE7049F26F}"/>
              </a:ext>
            </a:extLst>
          </p:cNvPr>
          <p:cNvSpPr/>
          <p:nvPr/>
        </p:nvSpPr>
        <p:spPr>
          <a:xfrm>
            <a:off x="4566745" y="4210982"/>
            <a:ext cx="6477001" cy="1772032"/>
          </a:xfrm>
          <a:prstGeom prst="roundRect">
            <a:avLst>
              <a:gd name="adj" fmla="val 7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 (b)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activity_index IN subset DO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sum_of_time += activity_list[activity_index][1]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sum_of_budget += activity_list[activity_index][2]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sum_of_enjoyment_values += activity_list[activity_index][3]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 (b)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2AB0D9-B072-BEBF-C90E-5C5D485E8FCA}"/>
              </a:ext>
            </a:extLst>
          </p:cNvPr>
          <p:cNvSpPr/>
          <p:nvPr/>
        </p:nvSpPr>
        <p:spPr>
          <a:xfrm>
            <a:off x="1161394" y="1938880"/>
            <a:ext cx="6190594" cy="1782060"/>
          </a:xfrm>
          <a:prstGeom prst="roundRect">
            <a:avLst>
              <a:gd name="adj" fmla="val 7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 (a)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ARRAY[INTEGER] subset IN subsets DO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INTEGER sum_of_budget &lt;- 0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INTEGER sum_of_time &lt;- 0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INTEGER sum_of_enjoyment_values &lt;- 0</a:t>
            </a:r>
          </a:p>
          <a:p>
            <a:endParaRPr lang="en-GB" sz="14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... (b)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6E390FB-C075-53C4-90C3-591C4A7DCF97}"/>
              </a:ext>
            </a:extLst>
          </p:cNvPr>
          <p:cNvSpPr txBox="1">
            <a:spLocks/>
          </p:cNvSpPr>
          <p:nvPr/>
        </p:nvSpPr>
        <p:spPr>
          <a:xfrm>
            <a:off x="7662043" y="1938880"/>
            <a:ext cx="3620814" cy="1782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Iterate through each subset.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80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Initialise three tracker variables.</a:t>
            </a:r>
          </a:p>
        </p:txBody>
      </p:sp>
    </p:spTree>
    <p:extLst>
      <p:ext uri="{BB962C8B-B14F-4D97-AF65-F5344CB8AC3E}">
        <p14:creationId xmlns:p14="http://schemas.microsoft.com/office/powerpoint/2010/main" val="2408257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D031-86BB-32C3-7E2A-9DA358ED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57B6-7D95-1B45-D294-BDCDB5671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Brute Force Approach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53D9DF-5DDE-C13F-890A-EADE623E0B3D}"/>
              </a:ext>
            </a:extLst>
          </p:cNvPr>
          <p:cNvSpPr/>
          <p:nvPr/>
        </p:nvSpPr>
        <p:spPr>
          <a:xfrm>
            <a:off x="2029810" y="1915510"/>
            <a:ext cx="8132380" cy="2885646"/>
          </a:xfrm>
          <a:prstGeom prst="roundRect">
            <a:avLst>
              <a:gd name="adj" fmla="val 7351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 (b)</a:t>
            </a:r>
          </a:p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IF (sum_of_enjoyment_values &gt; optimal_subset['total_enjoyment_value'] AND sum_of_budget &lt;= available_budget) THEN</a:t>
            </a:r>
          </a:p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optimal_subset[“subset_indices”] &lt;- subset</a:t>
            </a:r>
          </a:p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optimal_subset[“time_used”] &lt;- sum_of_time</a:t>
            </a:r>
          </a:p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optimal_subset[“budget_used”] &lt;- sum_of_budget</a:t>
            </a:r>
          </a:p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optimal_subset[“total_enjoyment_value”] &lt;- sum_of_enjoyment_values</a:t>
            </a:r>
          </a:p>
          <a:p>
            <a:pPr lvl="2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IF</a:t>
            </a:r>
          </a:p>
          <a:p>
            <a:pPr lvl="1"/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endParaRPr lang="en-GB" sz="14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4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RETURN optimal_subset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1A1A19F-68D0-23A8-CD34-600CEA442291}"/>
              </a:ext>
            </a:extLst>
          </p:cNvPr>
          <p:cNvSpPr txBox="1">
            <a:spLocks/>
          </p:cNvSpPr>
          <p:nvPr/>
        </p:nvSpPr>
        <p:spPr>
          <a:xfrm>
            <a:off x="1755228" y="5128601"/>
            <a:ext cx="8681544" cy="1282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If the current subset improves the enjoyment value whilst staying within the budget, it becomes the new optimal solution.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GB" sz="180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Return the optimal solution once finished.</a:t>
            </a:r>
          </a:p>
        </p:txBody>
      </p:sp>
    </p:spTree>
    <p:extLst>
      <p:ext uri="{BB962C8B-B14F-4D97-AF65-F5344CB8AC3E}">
        <p14:creationId xmlns:p14="http://schemas.microsoft.com/office/powerpoint/2010/main" val="2151751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1ABC-0A57-0D0A-0615-4E300FDC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ED0C-D544-1104-F8BD-D8359E38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>
                <a:solidFill>
                  <a:schemeClr val="tx2">
                    <a:lumMod val="50000"/>
                    <a:lumOff val="50000"/>
                  </a:schemeClr>
                </a:solidFill>
              </a:rPr>
              <a:t>Brute Force Approach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861A5B4-A434-58C8-744F-BD8FD1F6C1FC}"/>
              </a:ext>
            </a:extLst>
          </p:cNvPr>
          <p:cNvSpPr/>
          <p:nvPr/>
        </p:nvSpPr>
        <p:spPr>
          <a:xfrm>
            <a:off x="807984" y="2355217"/>
            <a:ext cx="4250120" cy="3219618"/>
          </a:xfrm>
          <a:prstGeom prst="roundRect">
            <a:avLst>
              <a:gd name="adj" fmla="val 4903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INTEGER available_budget &lt;- activity_list[0][2]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INTEGER number_of_activities &lt;- activity_list[0][0]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optimal_subset &lt;- DICTIONARY {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“subset_indices”: ARRAY[INTEGER],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“time_used”: 0,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“budget_used”: 0,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“total_enjoyment_value”: 0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ARRAY[INTEGER] activity_indices OF SIZE number_of_activities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i FROM 1 TO number_of_activities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activity_indices[i-1] &lt;- I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08FE8A7-0E1B-E560-8C66-1D15558D2DA1}"/>
              </a:ext>
            </a:extLst>
          </p:cNvPr>
          <p:cNvSpPr txBox="1">
            <a:spLocks/>
          </p:cNvSpPr>
          <p:nvPr/>
        </p:nvSpPr>
        <p:spPr>
          <a:xfrm>
            <a:off x="1235623" y="5927829"/>
            <a:ext cx="3394841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1800">
                <a:solidFill>
                  <a:schemeClr val="bg2">
                    <a:lumMod val="25000"/>
                  </a:schemeClr>
                </a:solidFill>
              </a:rPr>
              <a:t>Recap of Algorithm Logic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474B8C-BC41-1BEB-A829-3B1EA000618C}"/>
              </a:ext>
            </a:extLst>
          </p:cNvPr>
          <p:cNvSpPr/>
          <p:nvPr/>
        </p:nvSpPr>
        <p:spPr>
          <a:xfrm>
            <a:off x="5368159" y="1529255"/>
            <a:ext cx="5985641" cy="4871542"/>
          </a:xfrm>
          <a:prstGeom prst="roundRect">
            <a:avLst>
              <a:gd name="adj" fmla="val 3577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...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FOR INTEGER size_of_subset FROM 1 TO number_of_activities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ARRAY[ARRAY[INTEGER]] subsets &lt;- generate_subset(activity_indices, size_of_subset)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FOR ARRAY[INTEGER] subset IN subsets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INTEGER sum_of_budget &lt;- 0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INTEGER sum_of_time &lt;- 0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INTEGER sum_of_enjoyment_values &lt;- 0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FOR INTEGER activity_index IN subset DO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sum_of_time += activity_list[activity_index][1]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sum_of_budget += activity_list[activity_index][2]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sum_of_enjoyment_values += activity_list[activity_index][3]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END FOR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IF (sum_of_enjoyment_values &gt; optimal_subset['total_enjoyment_value'] AND sum_of_budget &lt;= available_budget) THEN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optimal_subset[“subset_indices”] &lt;- subset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optimal_subset[“time_used”] &lt;- sum_of_time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optimal_subset[“budget_used”] &lt;- sum_of_budget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    optimal_subset[“total_enjoyment_value”] &lt;- sum_of_enjoyment_values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    END IF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    END FOR</a:t>
            </a: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END FOR</a:t>
            </a:r>
          </a:p>
          <a:p>
            <a:endParaRPr lang="en-GB" sz="1100">
              <a:solidFill>
                <a:schemeClr val="bg2">
                  <a:lumMod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GB" sz="110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</a:rPr>
              <a:t>RETURN optimal_subset</a:t>
            </a:r>
          </a:p>
        </p:txBody>
      </p:sp>
    </p:spTree>
    <p:extLst>
      <p:ext uri="{BB962C8B-B14F-4D97-AF65-F5344CB8AC3E}">
        <p14:creationId xmlns:p14="http://schemas.microsoft.com/office/powerpoint/2010/main" val="2332550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6FDBD-B533-5A28-BAD6-89C736BE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62" y="177114"/>
            <a:ext cx="7362538" cy="457948"/>
          </a:xfrm>
        </p:spPr>
        <p:txBody>
          <a:bodyPr>
            <a:normAutofit fontScale="90000"/>
          </a:bodyPr>
          <a:lstStyle/>
          <a:p>
            <a:r>
              <a:rPr lang="en-GB" sz="4000" noProof="0"/>
              <a:t>Dynamic Programming Approach:</a:t>
            </a:r>
          </a:p>
        </p:txBody>
      </p:sp>
      <p:pic>
        <p:nvPicPr>
          <p:cNvPr id="1028" name="Picture 4" descr="Dynamic Programming – Introduction and Fibonacci Numbers – Theory of Coding">
            <a:extLst>
              <a:ext uri="{FF2B5EF4-FFF2-40B4-BE49-F238E27FC236}">
                <a16:creationId xmlns:a16="http://schemas.microsoft.com/office/drawing/2014/main" id="{561C82F9-1DB3-F32E-4079-BAD51AD41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63" y="635061"/>
            <a:ext cx="1823726" cy="206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p-on-grids">
            <a:extLst>
              <a:ext uri="{FF2B5EF4-FFF2-40B4-BE49-F238E27FC236}">
                <a16:creationId xmlns:a16="http://schemas.microsoft.com/office/drawing/2014/main" id="{2A854626-FB0C-7D15-5A9F-72F28B71E9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21" t="21484" r="15138" b="16863"/>
          <a:stretch>
            <a:fillRect/>
          </a:stretch>
        </p:blipFill>
        <p:spPr bwMode="auto">
          <a:xfrm>
            <a:off x="133201" y="3942301"/>
            <a:ext cx="1994725" cy="195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A120B7-D420-C646-0D3D-653DC41E60BC}"/>
              </a:ext>
            </a:extLst>
          </p:cNvPr>
          <p:cNvSpPr txBox="1"/>
          <p:nvPr/>
        </p:nvSpPr>
        <p:spPr>
          <a:xfrm>
            <a:off x="2127926" y="635061"/>
            <a:ext cx="5514735" cy="5078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FOR i FROM 0 TO num_activities DO</a:t>
            </a:r>
          </a:p>
          <a:p>
            <a:r>
              <a:rPr lang="en-GB"/>
              <a:t>    CREATE a row with length of av_budget, each with 0</a:t>
            </a:r>
          </a:p>
          <a:p>
            <a:r>
              <a:rPr lang="en-GB"/>
              <a:t>    ADD a row to table</a:t>
            </a:r>
          </a:p>
          <a:p>
            <a:r>
              <a:rPr lang="en-GB"/>
              <a:t>END FOR</a:t>
            </a:r>
          </a:p>
          <a:p>
            <a:endParaRPr lang="en-GB"/>
          </a:p>
          <a:p>
            <a:r>
              <a:rPr lang="en-GB"/>
              <a:t>FOR i FROM 0 TO num_activities DO</a:t>
            </a:r>
          </a:p>
          <a:p>
            <a:r>
              <a:rPr lang="en-GB"/>
              <a:t>    act_cost &lt;= cost of activity i</a:t>
            </a:r>
          </a:p>
          <a:p>
            <a:r>
              <a:rPr lang="en-GB"/>
              <a:t>    act_enjoy &lt;= enjoyment of activity i</a:t>
            </a:r>
          </a:p>
          <a:p>
            <a:r>
              <a:rPr lang="en-GB"/>
              <a:t>     FOR t FROM 0 TO av_budget DO</a:t>
            </a:r>
          </a:p>
          <a:p>
            <a:r>
              <a:rPr lang="en-GB"/>
              <a:t>        IF act_cost &lt;= t THEN</a:t>
            </a:r>
          </a:p>
          <a:p>
            <a:r>
              <a:rPr lang="en-GB"/>
              <a:t>            dp_table ADD MAX(dp_table[t-1][i], </a:t>
            </a:r>
          </a:p>
          <a:p>
            <a:r>
              <a:rPr lang="en-GB"/>
              <a:t>	dp_table[t-1][i -act_cost] + act_enjoy to [t][i])</a:t>
            </a:r>
          </a:p>
          <a:p>
            <a:r>
              <a:rPr lang="en-GB"/>
              <a:t>        ELSE</a:t>
            </a:r>
          </a:p>
          <a:p>
            <a:r>
              <a:rPr lang="en-GB"/>
              <a:t>            dp_table ADD dp_table[t-1][i] to [t][i]</a:t>
            </a:r>
          </a:p>
          <a:p>
            <a:r>
              <a:rPr lang="en-GB"/>
              <a:t>        END IF</a:t>
            </a:r>
          </a:p>
          <a:p>
            <a:r>
              <a:rPr lang="en-GB"/>
              <a:t>    END FOR</a:t>
            </a:r>
          </a:p>
          <a:p>
            <a:r>
              <a:rPr lang="en-GB"/>
              <a:t>END FOR</a:t>
            </a:r>
          </a:p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5BA26-09A1-AF58-EB4E-4BE8D75E4589}"/>
              </a:ext>
            </a:extLst>
          </p:cNvPr>
          <p:cNvSpPr txBox="1"/>
          <p:nvPr/>
        </p:nvSpPr>
        <p:spPr>
          <a:xfrm>
            <a:off x="7642661" y="735767"/>
            <a:ext cx="434267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This method uses a 2D array to store each computed value and uses them to compute the next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It is a variation to the 0/1 knapsack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It stores each value as db[i][b] =&gt; the maximum enjoyment from first i values with a budget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Before each input, a choice is made: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/>
              <a:t>Include the new activity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/>
              <a:t>Exclude the new activity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/>
              <a:t>Depending on the cost and budget left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12F654-7333-2BDE-A46F-4C261E8764CB}"/>
              </a:ext>
            </a:extLst>
          </p:cNvPr>
          <p:cNvSpPr txBox="1"/>
          <p:nvPr/>
        </p:nvSpPr>
        <p:spPr>
          <a:xfrm>
            <a:off x="2300288" y="5713374"/>
            <a:ext cx="3400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Time Complexity: O(nB)</a:t>
            </a:r>
          </a:p>
        </p:txBody>
      </p:sp>
    </p:spTree>
    <p:extLst>
      <p:ext uri="{BB962C8B-B14F-4D97-AF65-F5344CB8AC3E}">
        <p14:creationId xmlns:p14="http://schemas.microsoft.com/office/powerpoint/2010/main" val="3441521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95534-E25E-CB50-E704-64AAD4B9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47" y="71099"/>
            <a:ext cx="10515600" cy="923330"/>
          </a:xfrm>
        </p:spPr>
        <p:txBody>
          <a:bodyPr/>
          <a:lstStyle/>
          <a:p>
            <a:r>
              <a:rPr lang="en-GB"/>
              <a:t>Dynamic Programming Approach: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67EE4-00BB-C8DF-5EA2-34988A4FE7DC}"/>
              </a:ext>
            </a:extLst>
          </p:cNvPr>
          <p:cNvSpPr txBox="1"/>
          <p:nvPr/>
        </p:nvSpPr>
        <p:spPr>
          <a:xfrm>
            <a:off x="132348" y="794084"/>
            <a:ext cx="6319188" cy="61863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/>
              <a:t>CREATE LIST subsets</a:t>
            </a:r>
          </a:p>
          <a:p>
            <a:r>
              <a:rPr lang="en-GB"/>
              <a:t>SET remaining_budget &lt;= av_budget</a:t>
            </a:r>
          </a:p>
          <a:p>
            <a:r>
              <a:rPr lang="en-GB"/>
              <a:t>SET total_time &lt;= 0</a:t>
            </a:r>
          </a:p>
          <a:p>
            <a:r>
              <a:rPr lang="en-GB"/>
              <a:t>SET used_budget &lt;=0</a:t>
            </a:r>
          </a:p>
          <a:p>
            <a:r>
              <a:rPr lang="en-GB"/>
              <a:t>SET total_enjoyment &lt;= 0</a:t>
            </a:r>
          </a:p>
          <a:p>
            <a:r>
              <a:rPr lang="en-GB"/>
              <a:t> </a:t>
            </a:r>
          </a:p>
          <a:p>
            <a:r>
              <a:rPr lang="en-GB"/>
              <a:t>FOR i FROM num_activities TO 0 DO</a:t>
            </a:r>
          </a:p>
          <a:p>
            <a:r>
              <a:rPr lang="en-GB"/>
              <a:t>    act_cost &lt;= cost of activity i</a:t>
            </a:r>
          </a:p>
          <a:p>
            <a:r>
              <a:rPr lang="en-GB"/>
              <a:t>    act_enjoy &lt;= enjoyment value of activity i</a:t>
            </a:r>
          </a:p>
          <a:p>
            <a:r>
              <a:rPr lang="en-GB"/>
              <a:t>    act_time  &lt;= time for activity i</a:t>
            </a:r>
          </a:p>
          <a:p>
            <a:r>
              <a:rPr lang="en-GB"/>
              <a:t> </a:t>
            </a:r>
          </a:p>
          <a:p>
            <a:r>
              <a:rPr lang="en-GB"/>
              <a:t>    IF budget &gt;= act_cost and dp_table[i][budget] != dp_table[i-1][budget] DO</a:t>
            </a:r>
          </a:p>
          <a:p>
            <a:r>
              <a:rPr lang="en-GB"/>
              <a:t>        ADD activity i to subsets</a:t>
            </a:r>
          </a:p>
          <a:p>
            <a:r>
              <a:rPr lang="en-GB"/>
              <a:t>        budget &lt;= budget – act_cost</a:t>
            </a:r>
          </a:p>
          <a:p>
            <a:r>
              <a:rPr lang="en-GB"/>
              <a:t>        total_time &lt;= total_time – act_time</a:t>
            </a:r>
          </a:p>
          <a:p>
            <a:r>
              <a:rPr lang="en-GB"/>
              <a:t>        total_enjoy &lt;= total_enjoy + act_enjoy</a:t>
            </a:r>
          </a:p>
          <a:p>
            <a:r>
              <a:rPr lang="en-GB"/>
              <a:t>        required_budget &lt;= required_budget + act_cost</a:t>
            </a:r>
          </a:p>
          <a:p>
            <a:r>
              <a:rPr lang="en-GB"/>
              <a:t>    END IF</a:t>
            </a:r>
          </a:p>
          <a:p>
            <a:r>
              <a:rPr lang="en-GB"/>
              <a:t>END FOR</a:t>
            </a:r>
          </a:p>
          <a:p>
            <a:r>
              <a:rPr lang="en-GB"/>
              <a:t>OUPUT subsets, total_time, required_budget and total_enjoy</a:t>
            </a:r>
          </a:p>
          <a:p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FDF8BB-CE8B-64B9-F90B-C1C18D8F783B}"/>
              </a:ext>
            </a:extLst>
          </p:cNvPr>
          <p:cNvSpPr txBox="1"/>
          <p:nvPr/>
        </p:nvSpPr>
        <p:spPr>
          <a:xfrm>
            <a:off x="6485020" y="1194773"/>
            <a:ext cx="5574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section them moves through each activity checking, that there is budget to include it and its not equal to the previous entry in the DP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764B6A-5684-2F32-E89E-E73226265297}"/>
              </a:ext>
            </a:extLst>
          </p:cNvPr>
          <p:cNvSpPr txBox="1"/>
          <p:nvPr/>
        </p:nvSpPr>
        <p:spPr>
          <a:xfrm>
            <a:off x="6569242" y="4395068"/>
            <a:ext cx="465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Updates the time, cost and enjoyment 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CCD65-45F5-7CB2-CB52-70AEF47DCAC8}"/>
              </a:ext>
            </a:extLst>
          </p:cNvPr>
          <p:cNvSpPr txBox="1"/>
          <p:nvPr/>
        </p:nvSpPr>
        <p:spPr>
          <a:xfrm>
            <a:off x="6485020" y="5456898"/>
            <a:ext cx="55746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Outputs the optimal activities, time and budget required and enjoyment.</a:t>
            </a:r>
          </a:p>
        </p:txBody>
      </p:sp>
    </p:spTree>
    <p:extLst>
      <p:ext uri="{BB962C8B-B14F-4D97-AF65-F5344CB8AC3E}">
        <p14:creationId xmlns:p14="http://schemas.microsoft.com/office/powerpoint/2010/main" val="3967492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1C7A5-7D8C-BC5B-DAB2-34B0FD839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658"/>
            <a:ext cx="10515600" cy="1325563"/>
          </a:xfrm>
        </p:spPr>
        <p:txBody>
          <a:bodyPr/>
          <a:lstStyle/>
          <a:p>
            <a:r>
              <a:rPr lang="en-GB" noProof="0"/>
              <a:t>Demonstration: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108AD-4B45-9AED-AE91-137006D36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>
                <a:hlinkClick r:id="rId2"/>
              </a:rPr>
              <a:t>file:///Applications/PyCharm.app/</a:t>
            </a:r>
            <a:endParaRPr lang="en-GB" noProof="0"/>
          </a:p>
          <a:p>
            <a:r>
              <a:rPr lang="en-GB" noProof="0">
                <a:hlinkClick r:id="rId3"/>
              </a:rPr>
              <a:t>https://fantastic-fiesta-wrq7jrj7jv9qfgxp9.github.dev/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66520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0FE1-2F81-0874-5475-54CF0998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0"/>
            <a:ext cx="10515600" cy="1325563"/>
          </a:xfrm>
        </p:spPr>
        <p:txBody>
          <a:bodyPr/>
          <a:lstStyle/>
          <a:p>
            <a:r>
              <a:rPr lang="en-GB" noProof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53451-5833-C80F-6AE9-7473A1F6C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701" y="1320064"/>
            <a:ext cx="11419224" cy="3523397"/>
          </a:xfrm>
        </p:spPr>
        <p:txBody>
          <a:bodyPr>
            <a:normAutofit/>
          </a:bodyPr>
          <a:lstStyle/>
          <a:p>
            <a:r>
              <a:rPr lang="en-GB" noProof="0"/>
              <a:t>Results</a:t>
            </a:r>
          </a:p>
          <a:p>
            <a:pPr lvl="1"/>
            <a:r>
              <a:rPr lang="en-GB" noProof="0"/>
              <a:t>Overall, both method perform similarly for small datasets of sizes up to 12 activities where both execution times are minimal.</a:t>
            </a:r>
          </a:p>
          <a:p>
            <a:pPr lvl="1"/>
            <a:r>
              <a:rPr lang="en-GB" noProof="0"/>
              <a:t>As the number of activities increase from 12 the gap in performance and computation speed rapidly increases.</a:t>
            </a:r>
          </a:p>
          <a:p>
            <a:pPr lvl="1"/>
            <a:r>
              <a:rPr lang="en-GB"/>
              <a:t>Due to the time complexity of the Brute Force algorithm, it is unable to solve sample of around 100 or more, due to the program crashing.</a:t>
            </a:r>
            <a:endParaRPr lang="en-GB" noProof="0"/>
          </a:p>
          <a:p>
            <a:pPr lvl="1"/>
            <a:r>
              <a:rPr lang="en-GB" noProof="0"/>
              <a:t>However</a:t>
            </a:r>
            <a:r>
              <a:rPr lang="en-GB"/>
              <a:t>,</a:t>
            </a:r>
            <a:r>
              <a:rPr lang="en-GB" noProof="0"/>
              <a:t> a sample size of 1000 activities can still be solved by the  Dynamically Programmed and it can compute the solution in around 0.3 seconds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9F93DFE-40BE-E38F-30EA-1086AC8DC4A9}"/>
              </a:ext>
            </a:extLst>
          </p:cNvPr>
          <p:cNvSpPr txBox="1">
            <a:spLocks/>
          </p:cNvSpPr>
          <p:nvPr/>
        </p:nvSpPr>
        <p:spPr>
          <a:xfrm>
            <a:off x="397933" y="4859337"/>
            <a:ext cx="10955867" cy="16335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Challenges</a:t>
            </a:r>
          </a:p>
          <a:p>
            <a:pPr lvl="1"/>
            <a:r>
              <a:rPr lang="en-GB"/>
              <a:t>Learning to collaborate on GitHub</a:t>
            </a:r>
          </a:p>
          <a:p>
            <a:pPr lvl="1"/>
            <a:r>
              <a:rPr lang="en-GB"/>
              <a:t>Keeping to correct python formalities, variable names, comments etc</a:t>
            </a:r>
          </a:p>
          <a:p>
            <a:pPr lvl="1"/>
            <a:r>
              <a:rPr lang="en-GB"/>
              <a:t>Increased workload due to being a smaller group</a:t>
            </a:r>
          </a:p>
          <a:p>
            <a:pPr lvl="1"/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871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EC1C-DD92-7685-141C-70C20E164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EEDB9-359F-C5F6-5969-7A4964475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1825625"/>
            <a:ext cx="11413067" cy="4351338"/>
          </a:xfrm>
        </p:spPr>
        <p:txBody>
          <a:bodyPr/>
          <a:lstStyle/>
          <a:p>
            <a:r>
              <a:rPr lang="en-GB" noProof="0"/>
              <a:t>Slide 5 - </a:t>
            </a:r>
            <a:r>
              <a:rPr lang="en-GB" noProof="0">
                <a:hlinkClick r:id="rId2"/>
              </a:rPr>
              <a:t>https://www.geeksforgeeks.org/competitive-programming/dp-on-grids/</a:t>
            </a:r>
            <a:endParaRPr lang="en-GB" noProof="0"/>
          </a:p>
          <a:p>
            <a:r>
              <a:rPr lang="en-GB" noProof="0"/>
              <a:t>Slide </a:t>
            </a:r>
            <a:r>
              <a:rPr lang="en-GB"/>
              <a:t>5</a:t>
            </a:r>
            <a:r>
              <a:rPr lang="en-GB" noProof="0"/>
              <a:t> - </a:t>
            </a:r>
            <a:r>
              <a:rPr lang="en-GB" noProof="0">
                <a:hlinkClick r:id="rId3"/>
              </a:rPr>
              <a:t>https://theoryofcoding.com/index.php/2015/03/02/dynamic-programming-introduction-and-fibonacci-numbers/</a:t>
            </a:r>
            <a:endParaRPr lang="en-GB" noProof="0"/>
          </a:p>
          <a:p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24813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10000"/>
            <a:lumOff val="90000"/>
          </a:schemeClr>
        </a:solidFill>
        <a:ln>
          <a:solidFill>
            <a:schemeClr val="tx2">
              <a:lumMod val="50000"/>
              <a:lumOff val="50000"/>
            </a:schemeClr>
          </a:solidFill>
        </a:ln>
      </a:spPr>
      <a:bodyPr rtlCol="0" anchor="ctr"/>
      <a:lstStyle>
        <a:defPPr algn="l">
          <a:defRPr sz="1400" dirty="0">
            <a:solidFill>
              <a:schemeClr val="tx1"/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12a5d77-fb98-4eee-af32-1334d8f04a53}" enabled="0" method="" siteId="{912a5d77-fb98-4eee-af32-1334d8f04a5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2411</Words>
  <Application>Microsoft Office PowerPoint</Application>
  <PresentationFormat>Widescreen</PresentationFormat>
  <Paragraphs>295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 Theme</vt:lpstr>
      <vt:lpstr>Group 35 Student Society Event Planner</vt:lpstr>
      <vt:lpstr>The Problem:</vt:lpstr>
      <vt:lpstr>Event Planner </vt:lpstr>
      <vt:lpstr>Event Planner </vt:lpstr>
      <vt:lpstr>Brute Force Approach</vt:lpstr>
      <vt:lpstr>Brute Force Approach</vt:lpstr>
      <vt:lpstr>Brute Force Approach</vt:lpstr>
      <vt:lpstr>Brute Force Approach</vt:lpstr>
      <vt:lpstr>Brute Force Approach</vt:lpstr>
      <vt:lpstr>Brute Force Approach</vt:lpstr>
      <vt:lpstr>Dynamic Programming Approach:</vt:lpstr>
      <vt:lpstr>Dynamic Programming Approach:</vt:lpstr>
      <vt:lpstr>Demonstration:</vt:lpstr>
      <vt:lpstr>Conclusion: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Thrift-Brothers, Max;Russell, Cameron;Ozturk, Utku</dc:creator>
  <cp:lastModifiedBy>Russell, Cameron</cp:lastModifiedBy>
  <cp:revision>1</cp:revision>
  <dcterms:created xsi:type="dcterms:W3CDTF">2026-02-17T16:09:26Z</dcterms:created>
  <dcterms:modified xsi:type="dcterms:W3CDTF">2026-02-25T11:08:09Z</dcterms:modified>
</cp:coreProperties>
</file>